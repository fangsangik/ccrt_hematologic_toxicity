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0"/>
            <a:ext cx="2743200" cy="5080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CCRT Hematologic Toxicity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2A5F5"/>
                </a:solidFill>
                <a:latin typeface="Calibri"/>
              </a:defRPr>
            </a:pPr>
            <a:r>
              <a:t>Patient Dataset Overview &amp; Project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Calibri"/>
              </a:defRPr>
            </a:pPr>
            <a:r>
              <a:t>N=200 Synthetic EMR Cohort  |  LSTM + Temporal Attention  |  CTCAE v5.0 Grading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Concurrent Chemoradiation Therapy  |  Lung Cancer  |  Stage III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Patient Dataset Summary (N=200)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737360" cy="1371600"/>
          </a:xfrm>
          <a:prstGeom prst="roundRect">
            <a:avLst/>
          </a:prstGeom>
          <a:solidFill>
            <a:srgbClr val="ECEFF1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2A5F5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Total Patients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188720"/>
            <a:ext cx="1737360" cy="1371600"/>
          </a:xfrm>
          <a:prstGeom prst="roundRect">
            <a:avLst/>
          </a:prstGeom>
          <a:solidFill>
            <a:srgbClr val="ECEFF1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3258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800"/>
                </a:solidFill>
                <a:latin typeface="Calibri"/>
              </a:defRPr>
            </a:pPr>
            <a:r>
              <a:t>63.6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965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Mean Age (yrs)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88720"/>
            <a:ext cx="1737360" cy="1371600"/>
          </a:xfrm>
          <a:prstGeom prst="roundRect">
            <a:avLst/>
          </a:prstGeom>
          <a:solidFill>
            <a:srgbClr val="ECEFF1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3258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Calibri"/>
              </a:defRPr>
            </a:pPr>
            <a:r>
              <a:t>73% / 27%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965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Male / Female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88720"/>
            <a:ext cx="1737360" cy="1371600"/>
          </a:xfrm>
          <a:prstGeom prst="roundRect">
            <a:avLst/>
          </a:prstGeom>
          <a:solidFill>
            <a:srgbClr val="ECEFF1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258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C27B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65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Chemo Regimens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88720"/>
            <a:ext cx="1737360" cy="1371600"/>
          </a:xfrm>
          <a:prstGeom prst="roundRect">
            <a:avLst/>
          </a:prstGeom>
          <a:solidFill>
            <a:srgbClr val="ECEFF1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3258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88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65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CBC Measures</a:t>
            </a:r>
            <a:br/>
            <a:r>
              <a:t>(6 vars x 8 weeks)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0" y="1188720"/>
            <a:ext cx="1737360" cy="1371600"/>
          </a:xfrm>
          <a:prstGeom prst="roundRect">
            <a:avLst/>
          </a:prstGeom>
          <a:solidFill>
            <a:srgbClr val="ECEFF1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13258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44336"/>
                </a:solidFill>
                <a:latin typeface="Calibri"/>
              </a:defRPr>
            </a:pPr>
            <a:r>
              <a:t>37%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1965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Gr3+ Neutropenia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65760" y="28346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6400800"/>
                <a:gridCol w="1828800"/>
              </a:tblGrid>
              <a:tr h="386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Values / Range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 features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Demographics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age, sex, bmi, ecog_ps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Cancer Stage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stage (IIIA/B/C), t_stage (T1-4), n_stage (N0-3)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Lab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creatinine (0.50-1.48), albumin (2.5-5.0)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RT Treatment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total_dose (60-66Gy), fraction_dose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Chemotherapy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regimen (EP/TP/GP/DP/wPTX), dose, cycles (2-4)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CBC (raw)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Time-series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WBC, ANC, ALC, AMC, PLT, Hb  x  Week 0-7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CBC (derived)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Engineered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delta, slope, pct_change, cv, nadir, ratios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~52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Targets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grade3_neutropenia, anemia, thrombocytopenia, leukopenia, lymphopenia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Patient Demographics &amp; Clinical Characteristics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669280" cy="25603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Calibri"/>
              </a:defRPr>
            </a:pPr>
            <a:r>
              <a:t>Age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alibri"/>
              </a:defRPr>
            </a:pPr>
            <a:r>
              <a:t>Range: 40 - 82 years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   (30, 50]  ███░░░░░░░░░░░░░░░░░░░░░░   12 (6%)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   (50, 60]  ██████████████░░░░░░░░░░░   59 (30%)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   (60, 70]  █████████████████████░░░░   85 (42%)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   (70, 80]  █████████░░░░░░░░░░░░░░░░   38 (19%)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   (80, 90]  █░░░░░░░░░░░░░░░░░░░░░░░░    6 (3%)</a:t>
            </a:r>
          </a:p>
          <a:p>
            <a:br/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57575"/>
                </a:solidFill>
                <a:latin typeface="Calibri"/>
              </a:defRPr>
            </a:pPr>
            <a:r>
              <a:t>Mean: 63.6  |  Median: 64.0  |  SD: 8.3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2743200" cy="25603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Sex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2A5F5"/>
                </a:solidFill>
                <a:latin typeface="Calibri"/>
              </a:defRPr>
            </a:pPr>
            <a:r>
              <a:t>Male:    146 (73%)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44336"/>
                </a:solidFill>
                <a:latin typeface="Calibri"/>
              </a:defRPr>
            </a:pPr>
            <a:r>
              <a:t>Female:  54 (27%)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21212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600" b="1">
                <a:solidFill>
                  <a:srgbClr val="4CAF50"/>
                </a:solidFill>
                <a:latin typeface="Calibri"/>
              </a:defRPr>
            </a:pPr>
            <a:r>
              <a:t>ECOG PS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  PS 0: 50 (25%)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  PS 1: 112 (56%)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  PS 2: 38 (19%)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188720"/>
            <a:ext cx="2560320" cy="25603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0" y="128016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9800"/>
                </a:solidFill>
              </a:defRPr>
            </a:pPr>
            <a:r>
              <a:t>BMI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Range: 16.0-31.6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Mean: 23.5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  &lt;18.5: 13 (6%)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  18.5-25: 129 (64%)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  25-30: 56 (28%)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  &gt;30: 2 (1%)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023360"/>
            <a:ext cx="3657600" cy="25603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C27B0"/>
                </a:solidFill>
              </a:defRPr>
            </a:pPr>
            <a:r>
              <a:t>Cancer Stage (AJCC)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12121"/>
                </a:solidFill>
                <a:latin typeface="Consolas"/>
              </a:defRPr>
            </a:pPr>
            <a:r>
              <a:t>IIIA:  ██████████████████  92 (46%)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12121"/>
                </a:solidFill>
                <a:latin typeface="Consolas"/>
              </a:defRPr>
            </a:pPr>
            <a:r>
              <a:t>IIIB:  ██████████████  74 (37%)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12121"/>
                </a:solidFill>
                <a:latin typeface="Consolas"/>
              </a:defRPr>
            </a:pPr>
            <a:r>
              <a:t>IIIC:  ██████  34 (17%)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212121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t>T-Stage: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alibri"/>
              </a:defRPr>
            </a:pPr>
            <a:r>
              <a:t>  T1: 20  T2: 56  T3: 70  T4: 54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t>N-Stage: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alibri"/>
              </a:defRPr>
            </a:pPr>
            <a:r>
              <a:t>  N0: 9  N1: 39  N2: 97  N3: 55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023360"/>
            <a:ext cx="3840480" cy="25603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1148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Treatment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212121"/>
                </a:solidFill>
                <a:latin typeface="Calibri"/>
              </a:defRPr>
            </a:pPr>
            <a:r>
              <a:t>RT Total Dose: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  60 Gy: 78 (39%)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  63 Gy: 80 (40%)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  66 Gy: 42 (21%)</a:t>
            </a:r>
          </a:p>
          <a:p>
            <a:br/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alibri"/>
              </a:defRPr>
            </a:pPr>
            <a:r>
              <a:t>Chemo Cycles: 2-4 (median: 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023360"/>
            <a:ext cx="3474720" cy="256032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41148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4336"/>
                </a:solidFill>
              </a:defRPr>
            </a:pPr>
            <a:r>
              <a:t>Chemotherapy Regimen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               EP  ████████████████ 65 (32%)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               TP  ███████████████ 62 (31%)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               GP  ███████ 30 (15%)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weekly_paclitaxel  ███████ 28 (14%)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               DP  ███ 15 (8%)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CBC Time-Series Data &amp; Hematologic Toxicity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669280" cy="274320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2A5F5"/>
                </a:solidFill>
              </a:defRPr>
            </a:pPr>
            <a:r>
              <a:t>CBC Variables (6 measures x 8 timepoints)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WBC (10^3/uL): White Blood Cell count  [2.4 - 13.0]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ANC (10^3/uL): Absolute Neutrophil Count  [1.4 - 9.1]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ALC (10^3/uL): Absolute Lymphocyte Count  [0.5 - 3.9]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AMC (10^3/uL): Absolute Monocyte Count  [0.1 - 1.0]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PLT (10^3/uL): Platelet count  [94.0 - 437.0]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12121"/>
                </a:solidFill>
                <a:latin typeface="Consolas"/>
              </a:defRPr>
            </a:pPr>
            <a:r>
              <a:t>  Hb (   g/dL): Hemoglobin  [6.6 - 20.5]</a:t>
            </a:r>
          </a:p>
          <a:p>
            <a:br/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Timepoints: Week 0 (baseline) through Week 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44336"/>
                </a:solidFill>
                <a:latin typeface="Calibri"/>
              </a:defRPr>
            </a:pPr>
            <a:r>
              <a:t>Input for prediction: Week 0, 1, 2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88720"/>
            <a:ext cx="5577840" cy="274320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Baseline CBC Statistics (Week 0)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691640"/>
          <a:ext cx="49377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3004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SD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WBC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6.65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2.08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2.44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6.46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12.98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ANC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4.11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1.49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1.36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3.98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9.06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ALC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1.69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1.64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3.89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AMC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1.04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PLT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238.53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65.78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236.00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437.00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Hb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12.98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2.15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6.60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12.85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onsolas"/>
                        </a:defRPr>
                      </a:pPr>
                      <a:r>
                        <a:t>20.50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4206240"/>
            <a:ext cx="5669280" cy="237744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4336"/>
                </a:solidFill>
              </a:defRPr>
            </a:pPr>
            <a:r>
              <a:t>Grade 3+ Toxicity Outcomes (CTCAE v5.0)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         Neutropenia (ANC &lt; 1.0):  ██████████████████░░░░░░░  37.3% (n=224)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          Leukopenia (WBC &lt; 2.0):  ██████████████████░░░░░░░  37.0% (n=222)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         Lymphopenia (ALC &lt; 0.5):  █████████████████░░░░░░░░  35.7% (n=214)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    Thrombocytopenia (PLT &lt; 50):  █████░░░░░░░░░░░░░░░░░░░░  10.3% (n=62)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              Anemia (Hb &lt; 8.0):  ███░░░░░░░░░░░░░░░░░░░░░░  6.0% (n=36)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206240"/>
            <a:ext cx="5577840" cy="237744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976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80E4F"/>
                </a:solidFill>
              </a:defRPr>
            </a:pPr>
            <a:r>
              <a:t>CTCAE v5.0 Grading Criteria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Neutropenia (ANC):   Grade 1: &lt;2.0  |  Grade 2: &lt;1.5  |  Grade 3: &lt;1.0  |  Grade 4: &lt;0.5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Anemia (Hb):         Grade 1: &lt;LLN  |  Grade 2: &lt;10   |  Grade 3: &lt;8.0  |  Grade 4: life-threatening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Thrombocytopenia:    Grade 1: &lt;LLN  |  Grade 2: &lt;75   |  Grade 3: &lt;50   |  Grade 4: &lt;25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Leukopenia (WBC):    Grade 1: &lt;LLN  |  Grade 2: &lt;3.0  |  Grade 3: &lt;2.0  |  Grade 4: &lt;1.0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Lymphopenia (ALC):   Grade 1: &lt;LLN  |  Grade 2: &lt;0.8  |  Grade 3: &lt;0.5  |  Grade 4: &lt;0.2</a:t>
            </a:r>
          </a:p>
          <a:p>
            <a:br/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44336"/>
                </a:solidFill>
                <a:latin typeface="Calibri"/>
              </a:defRPr>
            </a:pPr>
            <a:r>
              <a:t>Primary endpoint: Grade 3+ Neutropenia during CCRT (Week 0-7)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Architecture - ERD Overview</a:t>
            </a:r>
          </a:p>
        </p:txBody>
      </p:sp>
      <p:pic>
        <p:nvPicPr>
          <p:cNvPr id="4" name="Picture 3" descr="project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Patient Dataset - Visual Dashboard</a:t>
            </a:r>
          </a:p>
        </p:txBody>
      </p:sp>
      <p:pic>
        <p:nvPicPr>
          <p:cNvPr id="4" name="Picture 3" descr="patient_datas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Pipeline &amp; Model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3200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099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DATA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nsolas"/>
              </a:defRPr>
            </a:pPr>
            <a:r>
              <a:t>emr_patients.csv (200 rows x 16 cols)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  PK: patient_id | demographics + stage + 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emr_cbc_results.csv (~600 rows, long format)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  FK: patient_id | exam_date + 6 CBC variables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ctcae_v5_criteria.json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  Grade thresholds for 5 toxicity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514600"/>
            <a:ext cx="11430000" cy="32004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273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PREPROCESSING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nsolas"/>
              </a:defRPr>
            </a:pPr>
            <a:r>
              <a:t>preprocessing.py: Date -&gt; Week mapping, Long -&gt; Wide pivot, CTCAE Grade calc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data_loader.py: CSV loading, missing value imputation (median), outlier clipping (IQR)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feature_engineer.py: Temporal features (delta, slope, cv, nadir, ratios)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dataset.py: PyTorch CCRTDataset with 80% masking augmentation (Week 3-7)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Output: emr_processed.csv (200 rows x 108 columns)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31920"/>
            <a:ext cx="11430000" cy="320040"/>
          </a:xfrm>
          <a:prstGeom prst="round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9446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MODEL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nsolas"/>
              </a:defRPr>
            </a:pPr>
            <a:r>
              <a:t>Baseline Models: XGBoost + LightGBM + Logistic Regression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LSTM: LSTMPredictor (2-layer LSTM + Temporal Attention + FC baseline encoder)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Forecaster: CBCForecasterV2 (Seq2Seq: Week 0-2 -&gt; predict Week 3-7)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Training: 5-fold Stratified CV, EarlyStopping, SMOTE, class weights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Entry: main.py (4 modes) | lstm_forecast.py | lstm_e2e.py | external_validation.py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349240"/>
            <a:ext cx="11430000" cy="320040"/>
          </a:xfrm>
          <a:prstGeom prst="round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3619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EVALUATION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nsolas"/>
              </a:defRPr>
            </a:pPr>
            <a:r>
              <a:t>metrics.py: AUROC, AUPRC, Sensitivity, Specificity, PPV, NPV, F1, Bootstrap CI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visualization.py: ROC/PR curves, confusion matrix, feature importance, CBC plots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helpers.py: Logging, seed setting, result serialization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Output: 14+ figures, config.yaml, experiment_results.json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4048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4433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8221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4433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2395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44336"/>
                </a:solidFill>
                <a:latin typeface="Calibri"/>
              </a:defRPr>
            </a:pPr>
            <a:r>
              <a:t>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Entity Relationships &amp; Key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474720" cy="4114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14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emr_patients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3474720" cy="370332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44336"/>
                </a:solidFill>
                <a:latin typeface="Consolas"/>
              </a:defRPr>
            </a:pPr>
            <a:r>
              <a:t>PK  patient_id  VARCHAR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57575"/>
                </a:solidFill>
                <a:latin typeface="Consolas"/>
              </a:defRPr>
            </a:pPr>
            <a:r>
              <a:t>--- Demographics ---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age          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sex          M/F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bmi          FLOAT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ecog_ps      INT (0-4)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57575"/>
                </a:solidFill>
                <a:latin typeface="Consolas"/>
              </a:defRPr>
            </a:pPr>
            <a:r>
              <a:t>--- Staging ---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stage        IIIA/B/C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t_stage      T1-T4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n_stage      N0-N3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57575"/>
                </a:solidFill>
                <a:latin typeface="Consolas"/>
              </a:defRPr>
            </a:pPr>
            <a:r>
              <a:t>--- Lab ---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creatinine   FLOAT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albumin      FLOAT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57575"/>
                </a:solidFill>
                <a:latin typeface="Consolas"/>
              </a:defRPr>
            </a:pPr>
            <a:r>
              <a:t>--- Treatment ---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rt_start_date    DATE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rt_total_dose    FLOAT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rt_fraction_dose FLOAT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chemo_regimen    VARCHAR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chemo_dose       FLOAT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chemo_cycles     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017520" cy="41148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14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emr_cbc_results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017520" cy="278892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91640"/>
            <a:ext cx="27432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44336"/>
                </a:solidFill>
                <a:latin typeface="Consolas"/>
              </a:defRPr>
            </a:pPr>
            <a:r>
              <a:t>FK  patient_id  VARCHAR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exam_date    DATE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57575"/>
                </a:solidFill>
                <a:latin typeface="Consolas"/>
              </a:defRPr>
            </a:pPr>
            <a:r>
              <a:t>--- CBC Values ---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WBC          FLOAT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ANC          FLOAT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ALC          FLOAT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AMC          FLOAT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PLT          FLOAT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Hb           FLOAT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~600 rows (long fmt)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188720"/>
            <a:ext cx="411480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214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emr_processed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600200"/>
            <a:ext cx="4114800" cy="370332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69164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44336"/>
                </a:solidFill>
                <a:latin typeface="Consolas"/>
              </a:defRPr>
            </a:pPr>
            <a:r>
              <a:t>PK  patient_id       VARCHAR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57575"/>
                </a:solidFill>
                <a:latin typeface="Consolas"/>
              </a:defRPr>
            </a:pPr>
            <a:r>
              <a:t>--- CBC Wide Format ---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{var}_week{0..7}  FLOAT (48)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57575"/>
                </a:solidFill>
                <a:latin typeface="Consolas"/>
              </a:defRPr>
            </a:pPr>
            <a:r>
              <a:t>--- CTCAE Grades ---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{tox}_grade_week{0..7} (40)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max_grade_{tox}       (5)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57575"/>
                </a:solidFill>
                <a:latin typeface="Consolas"/>
              </a:defRPr>
            </a:pPr>
            <a:r>
              <a:t>--- Targets ---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grade3_neutropenia    BINARY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grade3_anemia         BINARY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grade3_thrombocytopenia BINARY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grade3_leukopenia     BINARY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grade3_lymphopenia    BINARY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57575"/>
                </a:solidFill>
                <a:latin typeface="Consolas"/>
              </a:defRPr>
            </a:pPr>
            <a:r>
              <a:t>--- Clinical (merged) ---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    age, sex, bmi, etc.   (16)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12121"/>
                </a:solidFill>
                <a:latin typeface="Consolas"/>
              </a:defRPr>
            </a:pPr>
            <a:r>
              <a:t>200 rows x 108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4336"/>
                </a:solidFill>
                <a:latin typeface="Calibri"/>
              </a:defRPr>
            </a:pPr>
            <a:r>
              <a:t>1 : N  ──►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merge ──►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86400"/>
            <a:ext cx="11430000" cy="10972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37E"/>
                </a:solidFill>
              </a:defRPr>
            </a:pPr>
            <a:r>
              <a:t>Entity Relationships: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emr_patients (1) ──── (N) emr_cbc_results    via patient_id    [1 patient has multiple CBC exam records over 8 weeks]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emr_patients + emr_cbc_results  ──merge──►  emr_processed     [Long-to-Wide pivot + CTCAE grade calculation + feature merge]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12121"/>
                </a:solidFill>
                <a:latin typeface="Consolas"/>
              </a:defRPr>
            </a:pPr>
            <a:r>
              <a:t>emr_processed  ──split──►  train/val/test sets (80/10/10)       [Stratified by grade3_neutropenia to preserve class balance]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